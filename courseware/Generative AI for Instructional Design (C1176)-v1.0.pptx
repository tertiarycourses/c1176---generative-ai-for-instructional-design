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Generative AI for Instructional Design (C1176)</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C1176</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27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1 Day,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1</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Build the Meridian Service Excellence course kit end to end with AI — set up an AI instructional-design toolkit and prompt library, analyse the learning need, audience and objectives, and structure the course and its lessons; then generate the learning content, activities and scenarios, create quizzes, assessments and rubrics, produce scripts, visuals and job aids, align everything to the outcomes and quality-check the AI output, and assemble the finished facilitator and learner package</a:t>
            </a:r>
          </a:p>
          <a:p>
            <a:pPr>
              <a:spcAft>
                <a:spcPts val="1000"/>
              </a:spcAft>
            </a:pPr>
            <a:r>
              <a:rPr sz="1400" b="0">
                <a:solidFill>
                  <a:srgbClr val="5B6372"/>
                </a:solidFill>
                <a:latin typeface="Arial"/>
              </a:rPr>
              <a:t>–  Topic 1: Getting Started with Generative AI for Instructional Design (Labs 1–5)</a:t>
            </a:r>
          </a:p>
          <a:p>
            <a:pPr>
              <a:spcAft>
                <a:spcPts val="1000"/>
              </a:spcAft>
            </a:pPr>
            <a:r>
              <a:rPr sz="1400" b="0">
                <a:solidFill>
                  <a:srgbClr val="5B6372"/>
                </a:solidFill>
                <a:latin typeface="Arial"/>
              </a:rPr>
              <a:t>–  Topic 2: Creating Learning Content and Assessments with AI (Labs 6–10)</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1 — Build the Meridian Service Excellence course kit end to end with AI — set up an AI instructional-design toolkit and prompt library, analyse the learning need, audience and objectives, and structure the course and its lessons; then generate the learning content, activities and scenarios, create quizzes, assessments and rubrics, produce scripts, visuals and job aids, align everything to the outcomes and quality-check the AI output, and assemble the finished facilitator and learner package</a:t>
            </a:r>
          </a:p>
          <a:p>
            <a:pPr>
              <a:spcAft>
                <a:spcPts val="1000"/>
              </a:spcAft>
            </a:pPr>
            <a:r>
              <a:rPr sz="1400" b="0">
                <a:solidFill>
                  <a:srgbClr val="5B6372"/>
                </a:solidFill>
                <a:latin typeface="Arial"/>
              </a:rPr>
              <a:t>–  Topic 1: Getting Started with Generative AI for Instructional Design (Labs 1–5)</a:t>
            </a:r>
          </a:p>
          <a:p>
            <a:pPr>
              <a:spcAft>
                <a:spcPts val="1000"/>
              </a:spcAft>
            </a:pPr>
            <a:r>
              <a:rPr sz="1400" b="0">
                <a:solidFill>
                  <a:srgbClr val="5B6372"/>
                </a:solidFill>
                <a:latin typeface="Arial"/>
              </a:rPr>
              <a:t>–  Topic 2: Creating Learning Content and Assessments with AI (Labs 6–10)</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ID AI toolkit</a:t>
            </a:r>
          </a:p>
          <a:p>
            <a:pPr algn="l">
              <a:spcAft>
                <a:spcPts val="300"/>
              </a:spcAft>
            </a:pPr>
            <a:r>
              <a:rPr sz="1300" b="0">
                <a:solidFill>
                  <a:srgbClr val="5B6372"/>
                </a:solidFill>
                <a:latin typeface="Arial"/>
              </a:rPr>
              <a:t>Explain how generative AI supports instructional design, and set up an AI toolkit — general chat assistants (ChatGPT, Claude, Gemini) and an AI image tool — for learning-design 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Prompting for ID</a:t>
            </a:r>
          </a:p>
          <a:p>
            <a:pPr algn="l">
              <a:spcAft>
                <a:spcPts val="300"/>
              </a:spcAft>
            </a:pPr>
            <a:r>
              <a:rPr sz="1300" b="0">
                <a:solidFill>
                  <a:srgbClr val="5B6372"/>
                </a:solidFill>
                <a:latin typeface="Arial"/>
              </a:rPr>
              <a:t>Write effective, structured prompts for instructional-design tasks and build a reusable prompt library.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Needs &amp; objectives</a:t>
            </a:r>
          </a:p>
          <a:p>
            <a:pPr algn="l">
              <a:spcAft>
                <a:spcPts val="300"/>
              </a:spcAft>
            </a:pPr>
            <a:r>
              <a:rPr sz="1300" b="0">
                <a:solidFill>
                  <a:srgbClr val="5B6372"/>
                </a:solidFill>
                <a:latin typeface="Arial"/>
              </a:rPr>
              <a:t>Use generative AI to analyse learning needs, profile the target learners, and write clear, measurable learning objectives.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Course structure</a:t>
            </a:r>
          </a:p>
          <a:p>
            <a:pPr algn="l">
              <a:spcAft>
                <a:spcPts val="300"/>
              </a:spcAft>
            </a:pPr>
            <a:r>
              <a:rPr sz="1300" b="0">
                <a:solidFill>
                  <a:srgbClr val="5B6372"/>
                </a:solidFill>
                <a:latin typeface="Arial"/>
              </a:rPr>
              <a:t>Use AI to structure a course — a curriculum map and module breakdown aligned to the objectives.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Lesson plans</a:t>
            </a:r>
          </a:p>
          <a:p>
            <a:pPr algn="l">
              <a:spcAft>
                <a:spcPts val="300"/>
              </a:spcAft>
            </a:pPr>
            <a:r>
              <a:rPr sz="1300" b="0">
                <a:solidFill>
                  <a:srgbClr val="5B6372"/>
                </a:solidFill>
                <a:latin typeface="Arial"/>
              </a:rPr>
              <a:t>Use AI to build lesson plans and sequence the learning into a coherent, timed flow.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Content &amp; activities</a:t>
            </a:r>
          </a:p>
          <a:p>
            <a:pPr algn="l">
              <a:spcAft>
                <a:spcPts val="300"/>
              </a:spcAft>
            </a:pPr>
            <a:r>
              <a:rPr sz="1300" b="0">
                <a:solidFill>
                  <a:srgbClr val="5B6372"/>
                </a:solidFill>
                <a:latin typeface="Arial"/>
              </a:rPr>
              <a:t>Generate engaging learning content, activities and scenarios with AI.</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Quizzes &amp; rubrics</a:t>
            </a:r>
          </a:p>
          <a:p>
            <a:pPr algn="l">
              <a:spcAft>
                <a:spcPts val="300"/>
              </a:spcAft>
            </a:pPr>
            <a:r>
              <a:rPr sz="1300" b="0">
                <a:solidFill>
                  <a:srgbClr val="5B6372"/>
                </a:solidFill>
                <a:latin typeface="Arial"/>
              </a:rPr>
              <a:t>Create quizzes, assessments and rubrics aligned to the learning objectives with AI.</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Scripts, visuals, job aids</a:t>
            </a:r>
          </a:p>
          <a:p>
            <a:pPr algn="l">
              <a:spcAft>
                <a:spcPts val="300"/>
              </a:spcAft>
            </a:pPr>
            <a:r>
              <a:rPr sz="1300" b="0">
                <a:solidFill>
                  <a:srgbClr val="5B6372"/>
                </a:solidFill>
                <a:latin typeface="Arial"/>
              </a:rPr>
              <a:t>Produce learner-facing scripts, visuals and job aids with AI.</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Align &amp; quality-check</a:t>
            </a:r>
          </a:p>
          <a:p>
            <a:pPr algn="l">
              <a:spcAft>
                <a:spcPts val="300"/>
              </a:spcAft>
            </a:pPr>
            <a:r>
              <a:rPr sz="1300" b="0">
                <a:solidFill>
                  <a:srgbClr val="5B6372"/>
                </a:solidFill>
                <a:latin typeface="Arial"/>
              </a:rPr>
              <a:t>Align every artifact to the learning outcomes and quality-check AI output for accuracy, bias and instructional soundness.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Assemble &amp; deliver</a:t>
            </a:r>
          </a:p>
          <a:p>
            <a:pPr algn="l">
              <a:spcAft>
                <a:spcPts val="300"/>
              </a:spcAft>
            </a:pPr>
            <a:r>
              <a:rPr sz="1300" b="0">
                <a:solidFill>
                  <a:srgbClr val="5B6372"/>
                </a:solidFill>
                <a:latin typeface="Arial"/>
              </a:rPr>
              <a:t>Assemble, review and finalise the complete course package — facilitator and learner materials — ready to deliver.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What Generative AI for Instructional Design Really 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 partner for the whole workflow — you describe an instructional-design task in words and AI returns a usable first draft (a needs analysis, objectives, an outline, content, a quiz, a rubric, a job aid) in seconds, which you then review and refine.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Outcomes and audience first — the craft is not making materials faster; it is being clear on who your learners are and what they must be able to do, then using AI to design a course that gets them there.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Prompt, review, own — the workflow is always the same: give a structured prompt, review and correct the draft against your objectives, and take ownership of the result. The AI drafts; you decide, verify and stand behind the quality.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Aligned end to end — every piece of content, activity and assessment traces back to a learning objective; AI helps you keep that alignment tight from analysis through to the finished package.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The AI-Assisted Instructional-Design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Analyse</a:t>
            </a:r>
          </a:p>
          <a:p>
            <a:pPr algn="l">
              <a:spcAft>
                <a:spcPts val="300"/>
              </a:spcAft>
            </a:pPr>
            <a:r>
              <a:rPr sz="1200" b="0">
                <a:solidFill>
                  <a:srgbClr val="5B6372"/>
                </a:solidFill>
                <a:latin typeface="Arial"/>
              </a:rPr>
              <a:t>Use AI to clarify the learning need, profile the learners, and write clear, measurable objectives — you supply the real context and verify the facts.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Design</a:t>
            </a:r>
          </a:p>
          <a:p>
            <a:pPr algn="l">
              <a:spcAft>
                <a:spcPts val="300"/>
              </a:spcAft>
            </a:pPr>
            <a:r>
              <a:rPr sz="1200" b="0">
                <a:solidFill>
                  <a:srgbClr val="5B6372"/>
                </a:solidFill>
                <a:latin typeface="Arial"/>
              </a:rPr>
              <a:t>Structure the course into a curriculum map, modules and lesson plans, sequenced and timed so the learning flows logically toward the objectives.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Develop</a:t>
            </a:r>
          </a:p>
          <a:p>
            <a:pPr algn="l">
              <a:spcAft>
                <a:spcPts val="300"/>
              </a:spcAft>
            </a:pPr>
            <a:r>
              <a:rPr sz="1200" b="0">
                <a:solidFill>
                  <a:srgbClr val="5B6372"/>
                </a:solidFill>
                <a:latin typeface="Arial"/>
              </a:rPr>
              <a:t>Turn the design into learning content, activities and scenarios, quizzes, assessments and rubrics, and scripts, visuals and job aids.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Align</a:t>
            </a:r>
          </a:p>
          <a:p>
            <a:pPr algn="l">
              <a:spcAft>
                <a:spcPts val="300"/>
              </a:spcAft>
            </a:pPr>
            <a:r>
              <a:rPr sz="1200" b="0">
                <a:solidFill>
                  <a:srgbClr val="5B6372"/>
                </a:solidFill>
                <a:latin typeface="Arial"/>
              </a:rPr>
              <a:t>Map every artifact back to an objective and quality-check every AI draft for accuracy, bias, reading level and instructional soundness.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Deliver</a:t>
            </a:r>
          </a:p>
          <a:p>
            <a:pPr algn="l">
              <a:spcAft>
                <a:spcPts val="300"/>
              </a:spcAft>
            </a:pPr>
            <a:r>
              <a:rPr sz="1200" b="0">
                <a:solidFill>
                  <a:srgbClr val="5B6372"/>
                </a:solidFill>
                <a:latin typeface="Arial"/>
              </a:rPr>
              <a:t>Assemble the facilitator and learner materials into one consistent package, finalise it, and hand it over ready to run.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INSTRUCTIONAL-DESIGN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Generative AI gives you a fast first draft of every part of a course — the craft is prompting well, keeping outcomes and learners at the centre, verifying the facts, and owning the instructional quality yourself.</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This course is hands-on: you take one training course — the Meridian Service Excellence course kit, a short blended customer-service course for a fictional Singapore retail chain's new frontline staff — from a training request to a finished, aligned course package, using ChatGPT, Claude, Gemini and an AI image tool.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An AI instructional-design toolkit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ChatGPT, Claude, Gemini and an image tool set up</a:t>
            </a:r>
          </a:p>
          <a:p>
            <a:pPr>
              <a:spcAft>
                <a:spcPts val="900"/>
              </a:spcAft>
            </a:pPr>
            <a:r>
              <a:rPr sz="1400" b="0">
                <a:solidFill>
                  <a:srgbClr val="161B26"/>
                </a:solidFill>
                <a:latin typeface="Arial"/>
              </a:rPr>
              <a:t>•  A reusable ID prompt library</a:t>
            </a:r>
          </a:p>
          <a:p>
            <a:pPr>
              <a:spcAft>
                <a:spcPts val="900"/>
              </a:spcAft>
            </a:pPr>
            <a:r>
              <a:rPr sz="1400" b="0">
                <a:solidFill>
                  <a:srgbClr val="161B26"/>
                </a:solidFill>
                <a:latin typeface="Arial"/>
              </a:rPr>
              <a:t>•  A needs analysis, learner personas and objectives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 structured course design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curriculum map aligned to the objectives</a:t>
            </a:r>
          </a:p>
          <a:p>
            <a:pPr>
              <a:spcAft>
                <a:spcPts val="900"/>
              </a:spcAft>
            </a:pPr>
            <a:r>
              <a:rPr sz="1400" b="0">
                <a:solidFill>
                  <a:srgbClr val="161B26"/>
                </a:solidFill>
                <a:latin typeface="Arial"/>
              </a:rPr>
              <a:t>•  Module and lesson breakdowns</a:t>
            </a:r>
          </a:p>
          <a:p>
            <a:pPr>
              <a:spcAft>
                <a:spcPts val="900"/>
              </a:spcAft>
            </a:pPr>
            <a:r>
              <a:rPr sz="1400" b="0">
                <a:solidFill>
                  <a:srgbClr val="161B26"/>
                </a:solidFill>
                <a:latin typeface="Arial"/>
              </a:rPr>
              <a:t>•  Sequenced, timed lesson plans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Developed learning materials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Learning content, activities and scenarios</a:t>
            </a:r>
          </a:p>
          <a:p>
            <a:pPr>
              <a:spcAft>
                <a:spcPts val="900"/>
              </a:spcAft>
            </a:pPr>
            <a:r>
              <a:rPr sz="1400" b="0">
                <a:solidFill>
                  <a:srgbClr val="161B26"/>
                </a:solidFill>
                <a:latin typeface="Arial"/>
              </a:rPr>
              <a:t>•  Quizzes, assessments and rubrics</a:t>
            </a:r>
          </a:p>
          <a:p>
            <a:pPr>
              <a:spcAft>
                <a:spcPts val="900"/>
              </a:spcAft>
            </a:pPr>
            <a:r>
              <a:rPr sz="1400" b="0">
                <a:solidFill>
                  <a:srgbClr val="161B26"/>
                </a:solidFill>
                <a:latin typeface="Arial"/>
              </a:rPr>
              <a:t>•  Scripts, visuals and job aids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trainer demonstrates the AI technique on the shared Meridian Service Excellence example.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run it yourself in ChatGPT, Claude, Gemini or your image tool using the supplied Meridian training brief.</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verify the result against the lab's explicit 'Test it' check.</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review and refine — correct the draft, fix any invented fact, and align it to your objectives — until it meets the standard.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keep the reviewed output — each becomes the next part of your Meridian Service Excellence course kit.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Generative AI for Instructional Design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Introduction to instructional design and generative AI · Setting up AI tools for learning design · Analysing learning needs, audiences and objectives with AI · Structuring courses and lessons with AI</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Instructional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Instructional design in one view — instructional design is the systematic process of turning a learning need into an effective learning experience: you analyse the audience and goals, define measurable objectives, design and develop content and assessment, then implement and evaluate — the ADDIE cycle, or a backward-design flow from outcomes to activities.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Generative AI for instructional design — a generative AI assistant is a drafting and design partner across the whole ID workflow; it drafts needs analyses, objectives, course outlines, content, activities, assessments and job aids, turning days of design work into a fast first draft that you review and refine.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What AI is good (and not good) at — AI is strong at drafting, structuring, rephrasing and generating options at speed; it does not know your real learners, your organisation's context or your subject-matter truth, so you supply the facts, the audience insight and the pedagogical judgement.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Two anchors: outcomes and audience — every good design decision traces back to who the learners are and what they must be able to DO afterwards; you use AI to get sharp on both before you generate a single slide, activity or quiz.</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Popular GenAI tools — ChatGPT, Claude and Gemini all take a text prompt and return a draft; paired with an AI image tool they cover analysis, content, assessment and visuals. The prompting and review skills you learn here transfer across all of them.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generate–review–refine loop — every AI task follows the same loop: you prompt, the AI drafts, you review it critically against your objectives and audience, and you refine with follow-up prompts and your own edits until it is right. This loop drives every lab in the course.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Instructional Design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Prompting is the core skill — a good ID prompt gives the AI a role (an instructional designer), the context (audience, level, mode, constraints), the exact task, the format you want back and any constraints; a vague ask gives generic content, a structured ask gives usable content.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reusable prompt library — the same ID tasks recur for every course (needs analysis, objectives, outlines, content, quizzes, rubrics, job aids), so you save your best prompts as reusable templates you can run for any future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Learning objectives and alignment — clear, measurable objectives written with observable action verbs (for example Bloom's taxonomy) are the backbone of a course; content, activities and assessment must all align to them, and AI helps you draft objectives and check that alignment.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Human judgement, accuracy and ethics — AI drafts and suggests, but you verify every fact with a subject expert, check examples for bias and stereotypes, protect learner and organisational data, respect copyright, and own the instructional quality of everything you publish.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Generative AI for Instructional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 Up Your AI Instructional-Design Toolkit</a:t>
            </a:r>
          </a:p>
          <a:p>
            <a:pPr>
              <a:spcAft>
                <a:spcPts val="900"/>
              </a:spcAft>
            </a:pPr>
            <a:r>
              <a:rPr sz="1400" b="0">
                <a:solidFill>
                  <a:srgbClr val="161B26"/>
                </a:solidFill>
                <a:latin typeface="Arial"/>
              </a:rPr>
              <a:t>•  Write Effective Prompts for Instructional Design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Analyse Learning Needs, Audience and Objectives with AI</a:t>
            </a:r>
          </a:p>
          <a:p>
            <a:pPr>
              <a:spcAft>
                <a:spcPts val="900"/>
              </a:spcAft>
            </a:pPr>
            <a:r>
              <a:rPr sz="1400" b="0">
                <a:solidFill>
                  <a:srgbClr val="161B26"/>
                </a:solidFill>
                <a:latin typeface="Arial"/>
              </a:rPr>
              <a:t>•  Structure the Course Curriculum with AI</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5</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Lesson Plans and Learning Sequence with AI</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Instructional-Design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300" b="0">
                <a:solidFill>
                  <a:srgbClr val="161B26"/>
                </a:solidFill>
                <a:latin typeface="Arial"/>
              </a:rPr>
              <a:t>This lab gets you comfortable with the tools before any real design work begins. You open the chat assistants (ChatGPT, Claude and Gemini), confirm you are signed in, and run a simple instructional-design prompt so you see how each drafts learning content, then run the same prompt in a second assistant to feel how they differ. You open an AI image tool, sign in, and generate a quick throwaway visual so you can see what an image tool does for learning materials. You note what AI is genuinely good at for instructional design (a fast draft, structure, options) and where it needs you (your real learners, your subject-matter truth, your pedagogical judgement). By the end you understand the describe -&gt; generate -&gt; review -&gt; refine loop that is the heart of every lab. BUILDING BLOCK — what you create in this lab becomes part of your Meridian Service Excellence course kit, the connected course package you assemble across all 10 labs.</a:t>
            </a:r>
          </a:p>
        </p:txBody>
      </p:sp>
      <p:sp>
        <p:nvSpPr>
          <p:cNvPr id="10" name="Rectangle 9"/>
          <p:cNvSpPr/>
          <p:nvPr/>
        </p:nvSpPr>
        <p:spPr>
          <a:xfrm>
            <a:off x="777240" y="3977639"/>
            <a:ext cx="10698480" cy="1965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68680"/>
          </a:xfrm>
          <a:prstGeom prst="rect">
            <a:avLst/>
          </a:prstGeom>
          <a:noFill/>
        </p:spPr>
        <p:txBody>
          <a:bodyPr wrap="square" anchor="t">
            <a:spAutoFit/>
          </a:bodyPr>
          <a:lstStyle/>
          <a:p>
            <a:pPr algn="l">
              <a:spcAft>
                <a:spcPts val="400"/>
              </a:spcAft>
            </a:pPr>
            <a:r>
              <a:rPr sz="1500" b="1">
                <a:solidFill>
                  <a:srgbClr val="161B26"/>
                </a:solidFill>
                <a:latin typeface="Arial"/>
              </a:rPr>
              <a:t>Your AI instructional-design toolkit set up and tested — at least one chat assistant and an AI image tool signed in and responding — a first throwaway AI-generated draft and visual, and a clear, written understanding of the generate–review–refine loop and what AI can and cannot do for an instructional designer.</a:t>
            </a:r>
          </a:p>
        </p:txBody>
      </p:sp>
      <p:sp>
        <p:nvSpPr>
          <p:cNvPr id="13" name="TextBox 12"/>
          <p:cNvSpPr txBox="1"/>
          <p:nvPr/>
        </p:nvSpPr>
        <p:spPr>
          <a:xfrm>
            <a:off x="1005840" y="539496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Claude, Gemini, an AI image tool, account sign-in, first prompts, comparing assistants, the generate–review–refine loop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Instructional-Design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a project folder on your machine called 'Meridian-Service-Course-Kit' so every file and note you make today stays together. Open ChatGPT (chat.openai.com), Claude (claude.ai) and Gemini (gemini.google.com) in browser tabs and confirm you are signed in to at least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Instructional-Design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one chat assistant, run a simple first prompt to see how it drafts learning content. Paste the prompt below and read the reply.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an instructional designer. In five short bullet points, explain what makes a short workplace training course effective for new frontline retail staff. Keep each bullet to one sentence.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Instructional-Design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exact same prompt in a second assistant and compare the two replies. Notice differences in tone, length and structure — the skill you learn transfers across all of them, so use whichever you prefer.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an instructional designer. In five short bullet points, explain what makes a short workplace training course effective for new frontline retail staff. Keep each bullet to one sentence.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Instructional-Design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your AI image tool (image generation in ChatGPT or Gemini, Microsoft Copilot / Designer, or a tool like Adobe Firefly or Canva), sign in, and generate a quick throwaway visual so you can see what an image tool produces for learning materials.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simple, friendly flat illustration of a retail associate warmly greeting a customer in a bright neighbourhood store, clean and modern, no text.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Instructional-Design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Look at what the image tool produced — a usable draft visual generated in seconds. Note that it is a fast starting point, not a finished course graphic. You will not keep this one; it is only to feel the tool.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Instructional-Design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one line each, write what the AI did well (fast draft, structure, instant visual) and where it needs you (it does not know Meridian's real service standards, your learners, or your judgement). This good/not-good picture guides how you use AI all day.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Instructional-Design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supplied Meridian training brief (labs/reference-pack/): the organisation, the audience, the business need and the course constraints. Skim it so you know the course you are about to design.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Instructional-Design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notes into your Meridian-Service-Course-Kit folder. Write one line, in your own words, describing the generate -&gt; review -&gt; refine loop — you rely on it in every later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Your AI Instructional-Design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signed in to at least one chat assistant and an AI image tool, run the same prompt in two assistants and compared them, generated a throwaway visual, written a one-line note on what AI is and is not good at for instructional design, skimmed the Meridian training brief, and described the generate–review–refine loop in your own words — all saved in your Meridian-Service-Course-Kit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Instructional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300" b="0">
                <a:solidFill>
                  <a:srgbClr val="161B26"/>
                </a:solidFill>
                <a:latin typeface="Arial"/>
              </a:rPr>
              <a:t>A good result starts with a good prompt, not a lucky one. In this lab you read the Meridian training brief and write a deliberately vague prompt first, so you see how generic the result is. You then rebuild it with five clear parts — a role for the AI, the context (audience, level, mode, constraints), the exact task, the format you want back, and any constraints — and watch the draft become genuinely usable. You run small single-change edits to feel how each part matters, then save your best versions as a reusable prompt library with clearly marked slots, covering the tasks you repeat for every course: needs analysis, objectives, outline, content, activities, quizzes, rubrics and job aids. BUILDING BLOCK — what you create in this lab becomes part of your Meridian Service Excellence course kit, the connected course package you assemble across all 10 labs.</a:t>
            </a:r>
          </a:p>
        </p:txBody>
      </p:sp>
      <p:sp>
        <p:nvSpPr>
          <p:cNvPr id="10" name="Rectangle 9"/>
          <p:cNvSpPr/>
          <p:nvPr/>
        </p:nvSpPr>
        <p:spPr>
          <a:xfrm>
            <a:off x="777240" y="3977639"/>
            <a:ext cx="10698480" cy="1965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68680"/>
          </a:xfrm>
          <a:prstGeom prst="rect">
            <a:avLst/>
          </a:prstGeom>
          <a:noFill/>
        </p:spPr>
        <p:txBody>
          <a:bodyPr wrap="square" anchor="t">
            <a:spAutoFit/>
          </a:bodyPr>
          <a:lstStyle/>
          <a:p>
            <a:pPr algn="l">
              <a:spcAft>
                <a:spcPts val="400"/>
              </a:spcAft>
            </a:pPr>
            <a:r>
              <a:rPr sz="1600" b="1">
                <a:solidFill>
                  <a:srgbClr val="161B26"/>
                </a:solidFill>
                <a:latin typeface="Arial"/>
              </a:rPr>
              <a:t>A structured instructional-design prompt built from role, context, task, format and constraints, plus a reusable prompt library with clearly marked slots for the recurring ID tasks, saved in your project folder.</a:t>
            </a:r>
          </a:p>
        </p:txBody>
      </p:sp>
      <p:sp>
        <p:nvSpPr>
          <p:cNvPr id="13" name="TextBox 12"/>
          <p:cNvSpPr txBox="1"/>
          <p:nvPr/>
        </p:nvSpPr>
        <p:spPr>
          <a:xfrm>
            <a:off x="1005840" y="539496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the structured prompt framework (role, context, task, format, constraints), prompt iteration, a reusable prompt library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Instructional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Meridian training brief and note two things you will reuse in every prompt: who the learners are (new frontline retail associates in their first week) and the goal (deliver great customer service, including handling complaints).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Instructional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a deliberately vague first prompt in any assistant and generate, so you can see the generic result. Paste the prompt below and read how unfocused the reply is.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customer service training course.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Instructional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Rebuild the prompt with a role and the context, and regenerate. Paste the prompt below and compare it with the vague version.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an experienced instructional designer. Context: Meridian Retail Group is onboarding new frontline retail associates, who are often first-time workers, and needs a short, practical, roughly three-hour blended course on delivering great customer service, including handling complaints and knowing when to escalate. Draft the high-level topics this course should cover.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Instructional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Now add the exact task, the format you want back, and clear constraints, and regenerate.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As the same instructional designer, list the 4 to 6 modules this course should have. For each module give a short title and one line on what learners will be able to do after it. Present it as a numbered list, keep it practical and beginner-friendly, and do not invent Meridian-specific policies — leave clear placeholders where a real company policy is needed.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Instructional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Put the vague result and the structured result side by side. Note in one line how much more usable the structured prompt was — this is the core lesson of the day.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Instructional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two or three single-change edits to feel how each part steers the result — for example change the audience to 'experienced staff moving into a supervisor role', or change the mode to 'a self-paced e-learning module only' — and note which you would keep for Meridian.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Instructional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a reusable prompt library in your project folder: templates for needs analysis, learning objectives, course outline, content, activities, quiz items, rubrics and job aids, each with clearly marked slots — [ROLE], [CONTEXT], [AUDIENCE], [TASK], [FORMAT], [CONSTRAINTS] — that you fill in for any future course.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Instructional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compared a vague prompt with a structured one built from role, context, task, format and constraints, seen how much better the structured prompt performs, run single-change edits to feel each part, and saved a reusable prompt library with marked slots for the recurring instructional-design tasks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Analyse Learning Needs, Audience and Objectives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300" b="0">
                <a:solidFill>
                  <a:srgbClr val="161B26"/>
                </a:solidFill>
                <a:latin typeface="Arial"/>
              </a:rPr>
              <a:t>A good course rests on a clear need, a real understanding of the learners, and sharp objectives. In this lab you use a chat assistant to turn the Meridian training brief into a short needs analysis — the performance gap, the business need and what success looks like — then profile the learners as one or two personas (their role, prior knowledge, motivation and constraints). Crucially, you then write measurable learning objectives using observable action verbs (Bloom's taxonomy), and you check them: each objective must be observable, achievable in the time, and tied to the real on-the-job need — not a vague 'understand customer service'. You verify any factual claim against the brief and replace anything the AI invented with the brief's real context or a clear [VERIFY] placeholder. This foundation anchors every lab that follows. BUILDING BLOCK — what you create in this lab becomes part of your Meridian Service Excellence course kit, the connected course package you assemble across all 10 labs.</a:t>
            </a:r>
          </a:p>
        </p:txBody>
      </p:sp>
      <p:sp>
        <p:nvSpPr>
          <p:cNvPr id="10" name="Rectangle 9"/>
          <p:cNvSpPr/>
          <p:nvPr/>
        </p:nvSpPr>
        <p:spPr>
          <a:xfrm>
            <a:off x="777240" y="3977639"/>
            <a:ext cx="10698480" cy="1965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68680"/>
          </a:xfrm>
          <a:prstGeom prst="rect">
            <a:avLst/>
          </a:prstGeom>
          <a:noFill/>
        </p:spPr>
        <p:txBody>
          <a:bodyPr wrap="square" anchor="t">
            <a:spAutoFit/>
          </a:bodyPr>
          <a:lstStyle/>
          <a:p>
            <a:pPr algn="l">
              <a:spcAft>
                <a:spcPts val="400"/>
              </a:spcAft>
            </a:pPr>
            <a:r>
              <a:rPr sz="1600" b="1">
                <a:solidFill>
                  <a:srgbClr val="161B26"/>
                </a:solidFill>
                <a:latin typeface="Arial"/>
              </a:rPr>
              <a:t>A short needs analysis (performance gap, business need, success measure), one or two learner personas, and a set of clear, measurable, Bloom-aligned learning objectives for the Meridian course — checked for observability and fit, and grounded in the supplied brief.</a:t>
            </a:r>
          </a:p>
        </p:txBody>
      </p:sp>
      <p:sp>
        <p:nvSpPr>
          <p:cNvPr id="13" name="TextBox 12"/>
          <p:cNvSpPr txBox="1"/>
          <p:nvPr/>
        </p:nvSpPr>
        <p:spPr>
          <a:xfrm>
            <a:off x="1005840" y="539496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needs / gap analysis, learner personas, writing measurable objectives, Bloom's taxonomy, verifying against the brief</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Analyse Learning Needs, Audience and Objectives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Meridian training brief and note the business need (why the course exists) and the audience (new frontline retail associates in their first week).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Analyse Learning Needs, Audience and Objectives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Draft a short needs analysis with AI. Paste the prompt below, with the relevant brief details pasted in.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an instructional designer. From this training brief: '[PASTE BRIEF DETAILS]', write a short needs analysis: the performance gap (what learners cannot yet do), the business need it serves, any constraints (time, mode, prior knowledge), and one clear measure of success. Keep it to a page; do not invent facts not in the brief — mark anything you would need to confirm.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Analyse Learning Needs, Audience and Objectives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Profile the learners as personas.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For the same course, create one or two learner personas for new frontline retail associates — often first-time workers. For each: a name and role, prior knowledge and confidence, what motivates them, their context and constraints, and what would make the training work for them. Keep them realistic and free of stereotypes.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Analyse Learning Needs, Audience and Objectives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measurable learning objectives.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5 to 7 measurable learning objectives for this course, each starting 'By the end of this course, learners will be able to...' and using an observable action verb from Bloom's taxonomy (for example describe, demonstrate, apply, handle, decide). Make them achievable in a three-hour blended course and tied to the real on-the-job need. Avoid vague verbs like 'understand' or 'know'.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Analyse Learning Needs, Audience and Objectives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Pressure-test the objectives. Paste the prompt below and tighten any weak objective.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Review these objectives for quality: is each one observable and measurable, achievable in the time, and tied to a real performance need? Flag any that are vague, too ambitious, or not assessable, and suggest a sharper version.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Analyse Learning Needs, Audience and Objectives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against the brief: check every fact in the needs analysis and personas against the Meridian training brief, keep the brief's real context, and replace anything the AI invented with the brief's value or a clear [VERIFY] placeholder. Never carry an AI-invented fact into your design.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Analyse Learning Needs, Audience and Objectives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three things in your project folder: the needs analysis, the learner personas, and the final measurable objectives. These objectives are the spine every later lab must align to.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Analyse Learning Needs, Audience and Objectives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short needs analysis, one or two realistic learner personas, and a set of clear, measurable, Bloom-aligned learning objectives — pressure-tested for observability and fit and verified against the supplied brief — saved in your project folder as the foundation for the course.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the Course Curriculum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300" b="0">
                <a:solidFill>
                  <a:srgbClr val="161B26"/>
                </a:solidFill>
                <a:latin typeface="Arial"/>
              </a:rPr>
              <a:t>With the objectives set, you design the shape of the course. In this lab you use AI to turn your learning objectives into a curriculum map: the modules the course needs, which objective(s) each module covers, the key topics inside each, and a suggested time for each within the three-hour budget. You review it hard — checking every objective is covered by a module (no gaps) and every module serves an objective (no orphans), that the sequence builds logically from simple to complex, and that the total time is realistic. You use backward design thinking: each module exists to move learners toward an objective. This map is the blueprint you turn into detailed lesson plans in Lab 5 and fill with content in Topic 2. BUILDING BLOCK — what you create in this lab becomes part of your Meridian Service Excellence course kit, the connected course package you assemble across all 10 labs.</a:t>
            </a:r>
          </a:p>
        </p:txBody>
      </p:sp>
      <p:sp>
        <p:nvSpPr>
          <p:cNvPr id="10" name="Rectangle 9"/>
          <p:cNvSpPr/>
          <p:nvPr/>
        </p:nvSpPr>
        <p:spPr>
          <a:xfrm>
            <a:off x="777240" y="3977639"/>
            <a:ext cx="10698480" cy="1965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68680"/>
          </a:xfrm>
          <a:prstGeom prst="rect">
            <a:avLst/>
          </a:prstGeom>
          <a:noFill/>
        </p:spPr>
        <p:txBody>
          <a:bodyPr wrap="square" anchor="t">
            <a:spAutoFit/>
          </a:bodyPr>
          <a:lstStyle/>
          <a:p>
            <a:pPr algn="l">
              <a:spcAft>
                <a:spcPts val="400"/>
              </a:spcAft>
            </a:pPr>
            <a:r>
              <a:rPr sz="1600" b="1">
                <a:solidFill>
                  <a:srgbClr val="161B26"/>
                </a:solidFill>
                <a:latin typeface="Arial"/>
              </a:rPr>
              <a:t>A curriculum map for the Meridian course — modules with their covered objectives, key topics and suggested timings within the three-hour budget — reviewed so every objective is covered, every module earns its place, and the sequence builds logically.</a:t>
            </a:r>
          </a:p>
        </p:txBody>
      </p:sp>
      <p:sp>
        <p:nvSpPr>
          <p:cNvPr id="13" name="TextBox 12"/>
          <p:cNvSpPr txBox="1"/>
          <p:nvPr/>
        </p:nvSpPr>
        <p:spPr>
          <a:xfrm>
            <a:off x="1005840" y="539496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curriculum mapping, backward design, sequencing, objective-to-module alignment, time budgeting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the Course Curriculum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Gather your inputs from Lab 3: the measurable learning objectives and the learner personas. The map must serve those objectives and those learners.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the Course Curriculum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the curriculum map. Paste the prompt below, with your objectives pasted in.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an instructional designer using backward design. Using these learning objectives: '[PASTE OBJECTIVES]', design a curriculum map for a three-hour blended course. Give 4 to 6 modules; for each: a title, the objective(s) it addresses, the key topics inside it, the mode (workshop or e-learning), and a suggested time in minutes. Present it as a table and make the times add up to about three hours.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the Course Curriculum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coverage and orphans.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Check this curriculum map against my objectives: is every objective covered by at least one module, and does every module clearly serve an objective? List any objective with no module (a gap) and any module that serves no objective (an orphan), and suggest fixes.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the Course Curriculum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sequence: confirm the modules build logically — foundational ideas (what great service is, knowing the customer) before harder skills (handling a complaint, escalation) — and reorder anything out of place so the learning flows.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the Course Curriculum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time budget: confirm the module timings add up to about three hours with room for a welcome and a wrap-up, and adjust any module that is over- or under-weighted for its objective.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the Course Curriculum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Decide the blend: mark which modules are the facilitator-led workshop and which sit in the short e-learning module, so the structure matches the blended design in the brief.</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the Course Curriculum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final curriculum map in your project folder. This is the blueprint — you turn it into detailed lesson plans in Lab 5 and fill it with content, activities and assessment in Topic 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the Course Curriculum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curriculum map of 4 to 6 modules, each mapped to the objective(s) it covers with key topics, mode and a time — with every objective covered, no orphan modules, a logical simple-to-complex sequence, and timings that add up to about three hours.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Lesson Plans and Learning Sequence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300" b="0">
                <a:solidFill>
                  <a:srgbClr val="161B26"/>
                </a:solidFill>
                <a:latin typeface="Arial"/>
              </a:rPr>
              <a:t>Now you take the curriculum map down to the level a facilitator can actually run. In this lab you prompt AI to expand each module into a lesson plan: the module's objective, a short opener or warm-up, the content to teach, at least one learning activity where learners do something, a quick check for understanding, the timing for each part, and the materials needed. You apply a simple, sound structure to every lesson (for example a hook, then teach, then practise, then check — an engagement-to-application flow) so learning is active, not a lecture. You review the plans for realistic timing and a smooth flow from lesson to lesson across the whole course. These lesson plans are the detailed spine you fill with real content, activities and assessment in Topic 2. BUILDING BLOCK — what you create in this lab becomes part of your Meridian Service Excellence course kit, the connected course package you assemble across all 10 labs.</a:t>
            </a:r>
          </a:p>
        </p:txBody>
      </p:sp>
      <p:sp>
        <p:nvSpPr>
          <p:cNvPr id="10" name="Rectangle 9"/>
          <p:cNvSpPr/>
          <p:nvPr/>
        </p:nvSpPr>
        <p:spPr>
          <a:xfrm>
            <a:off x="777240" y="3977639"/>
            <a:ext cx="10698480" cy="1965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68680"/>
          </a:xfrm>
          <a:prstGeom prst="rect">
            <a:avLst/>
          </a:prstGeom>
          <a:noFill/>
        </p:spPr>
        <p:txBody>
          <a:bodyPr wrap="square" anchor="t">
            <a:spAutoFit/>
          </a:bodyPr>
          <a:lstStyle/>
          <a:p>
            <a:pPr algn="l">
              <a:spcAft>
                <a:spcPts val="400"/>
              </a:spcAft>
            </a:pPr>
            <a:r>
              <a:rPr sz="1600" b="1">
                <a:solidFill>
                  <a:srgbClr val="161B26"/>
                </a:solidFill>
                <a:latin typeface="Arial"/>
              </a:rPr>
              <a:t>A set of detailed, timed lesson plans for the Meridian course — each module with its objective, warm-up, content, at least one activity, a check for understanding, timings and materials — sequenced into one coherent flow, ready to develop in Topic 2.</a:t>
            </a:r>
          </a:p>
        </p:txBody>
      </p:sp>
      <p:sp>
        <p:nvSpPr>
          <p:cNvPr id="13" name="TextBox 12"/>
          <p:cNvSpPr txBox="1"/>
          <p:nvPr/>
        </p:nvSpPr>
        <p:spPr>
          <a:xfrm>
            <a:off x="1005840" y="539496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lesson planning, active-learning structure (hook–teach–practise–check), timing, sequencing lessons, materials lists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Lesson Plans and Learning Sequence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your Lab 4 curriculum map — each module becomes a lesson plan in this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Lesson Plans and Learning Sequence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Expand one module into a full lesson plan. Paste the prompt below, with that module's details pasted in.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an instructional designer. Expand this module into a detailed lesson plan: '[PASTE ONE MODULE]'. Include the module's objective, a short warm-up or hook, the content to teach, at least one active learning activity where learners apply the content, a quick check for understanding, the timing in minutes for each part, and the materials or media needed. Use a hook -&gt; teach -&gt; practise -&gt; check flow and keep it practical for a facilitator.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Lesson Plans and Learning Sequence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the remaining lesson plans the same way, one per module, keeping the same structure so the whole course feels consistent and every lesson has an active element rather than pure lecture.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Lesson Plans and Learning Sequence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timing.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Review these lesson plans for timing: do the parts within each lesson add up to the module's allotted time, and do all the lessons together fit a three-hour course with a welcome, a break and a wrap-up? Flag anything that will overrun and suggest what to trim.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Lesson Plans and Learning Sequence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flow between lessons: confirm each lesson connects to the next, prior knowledge builds in the right order, and there are no abrupt jumps or repeated content across lessons.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Lesson Plans and Learning Sequence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active learning: make sure every lesson has at least one activity or discussion where learners do or say something, not just receive content — the point of the workshop is practice.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Lesson Plans and Learning Sequence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full set of lesson plans in your project folder. This is the detailed spine of the course — you write its content and activities in Lab 6, its assessment in Lab 7, and its scripts, visuals and job aids in Lab 8.</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Lesson Plans and Learning Sequence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complete set of timed lesson plans, one per module, each with its objective, a warm-up, content, at least one active learning activity, a check for understanding, timings and materials — sequenced into one coherent, active, three-hour flow with realistic timing.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Getting Started with Generative AI for Instructional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Sign in to ChatGPT, Claude, Gemini and an AI image tool, run your first instructional-design prompts, and learn the generate–review–refine loop that every later lab uses.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Turn a vague ask into a strong, structured prompt (role, context, task, format, constraints) for instructional-design tasks, and save a reusable prompt library for the work you repeat for every course.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Use AI to analyse the learning need, profile the target learners as personas, and write clear, measurable learning objectives — the foundation every later artifact must align to.</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Turn the objectives into a curriculum map — the course's modules, the objectives each module covers, and a logical sequence — so the course has a clear structure before any content is written.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Turn the curriculum map into detailed, timed lesson plans — each with its objective, a warm-up, content, an activity and a check — sequenced into a coherent flow ready to develop.</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Creating Learning Content and Assessments with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Generating content, activities and scenarios · Creating quizzes, assessments and rubrics · Producing scripts, visuals and job aids · Aligning to outcomes and quality-checking AI output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Creating Learning Content and Assessments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From structure to content — AI turns your objectives and outline into concrete learning content: clear explanations, relatable examples, analogies and the words a learner reads or hears, which you shape to your audience's level and context.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Activities and scenarios — learning sticks when learners DO something; AI generates practice activities, discussion prompts, role-plays, branching scenarios and case studies that let learners apply the content rather than just read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Writing for learning, not documents — AI helps you chunk content into digestible pieces, write in plain, active language at the right reading level, and keep a consistent, encouraging tone across the whole course.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Assessment aligned to objectives — good assessment measures the stated objectives at the right level; AI drafts quiz questions, scenario questions and performance tasks, which you check for validity, fairness and alignment before use.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Quizzes and question quality — AI writes multiple-choice, true/false, matching and short-answer items with plausible distractors and answer guides; you review each for exactly one correct answer, no giveaway cues, and a clear link to an objective.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Rubrics and feedback — AI drafts clear, criteria-based rubrics and model feedback for open-ended tasks, so grading is consistent and learners know what good looks like; you calibrate the criteria and performance levels to your standard.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Creating Learning Content and Assessments with AI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Scripts, visuals and job aids — AI drafts narration scripts and storyboards for e-learning or video, image and slide prompts for visuals, and concise job aids, checklists and quick-reference guides that learners keep and use after the course.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Media, plain language and accessibility — AI helps you write alt text, captions and plain-language versions and check that content is inclusive and accessible, so every learner — including those using assistive technology — can use the material.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Aligning to outcomes — you map every piece of content, every activity and every assessment item back to a learning objective; AI runs an alignment check that surfaces gaps (an objective with no assessment) and orphans (content that serves no objective).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Quality-checking AI output — every AI draft is reviewed for accuracy, currency, bias, reading level and instructional soundness before it reaches a learner; the designer, not the AI, is accountable for the quality of what is delivered.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Creating Learning Content and Assessments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6–7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Learning Content, Activities and Scenarios with AI</a:t>
            </a:r>
          </a:p>
          <a:p>
            <a:pPr>
              <a:spcAft>
                <a:spcPts val="900"/>
              </a:spcAft>
            </a:pPr>
            <a:r>
              <a:rPr sz="1400" b="0">
                <a:solidFill>
                  <a:srgbClr val="161B26"/>
                </a:solidFill>
                <a:latin typeface="Arial"/>
              </a:rPr>
              <a:t>•  Create Quizzes, Assessments and Rubrics with AI</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8–9</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Produce Scripts, Visuals and Job Aids with AI</a:t>
            </a:r>
          </a:p>
          <a:p>
            <a:pPr>
              <a:spcAft>
                <a:spcPts val="900"/>
              </a:spcAft>
            </a:pPr>
            <a:r>
              <a:rPr sz="1400" b="0">
                <a:solidFill>
                  <a:srgbClr val="161B26"/>
                </a:solidFill>
                <a:latin typeface="Arial"/>
              </a:rPr>
              <a:t>•  Align to Outcomes and Quality-Check the AI Output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10</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Assemble, Review and Finalise the Course Package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Generate Learning Content, Activities and Scenarios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300" b="0">
                <a:solidFill>
                  <a:srgbClr val="161B26"/>
                </a:solidFill>
                <a:latin typeface="Arial"/>
              </a:rPr>
              <a:t>With the lesson plans set, you develop the material learners actually work with. In this lab you feed a lesson plan to a chat assistant and have it draft the learning content: clear explanations, relatable examples and a simple model learners can use (for example a service-recovery method for handling complaints). You then generate active learning activities — a discussion prompt, a role-play, and a realistic branching scenario in which a customer complaint plays out and the learner chooses how to respond. You edit hard: you chunk long content into digestible pieces, rewrite it in plain, active, encouraging language at the learners' level, and check every example is realistic and free of bias. The result is developed content and activities ready to be assessed in Lab 7 and produced in Lab 8. BUILDING BLOCK — what you create in this lab becomes part of your Meridian Service Excellence course kit, the connected course package you assemble across all 10 labs.</a:t>
            </a:r>
          </a:p>
        </p:txBody>
      </p:sp>
      <p:sp>
        <p:nvSpPr>
          <p:cNvPr id="10" name="Rectangle 9"/>
          <p:cNvSpPr/>
          <p:nvPr/>
        </p:nvSpPr>
        <p:spPr>
          <a:xfrm>
            <a:off x="777240" y="3977639"/>
            <a:ext cx="10698480" cy="1965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68680"/>
          </a:xfrm>
          <a:prstGeom prst="rect">
            <a:avLst/>
          </a:prstGeom>
          <a:noFill/>
        </p:spPr>
        <p:txBody>
          <a:bodyPr wrap="square" anchor="t">
            <a:spAutoFit/>
          </a:bodyPr>
          <a:lstStyle/>
          <a:p>
            <a:pPr algn="l">
              <a:spcAft>
                <a:spcPts val="400"/>
              </a:spcAft>
            </a:pPr>
            <a:r>
              <a:rPr sz="1600" b="1">
                <a:solidFill>
                  <a:srgbClr val="161B26"/>
                </a:solidFill>
                <a:latin typeface="Arial"/>
              </a:rPr>
              <a:t>Developed learning content for the Meridian course — clear, chunked explanations and examples plus a simple service model — with at least one discussion activity, one role-play and one realistic branching scenario, all in plain, active language pitched at the learners.</a:t>
            </a:r>
          </a:p>
        </p:txBody>
      </p:sp>
      <p:sp>
        <p:nvSpPr>
          <p:cNvPr id="13" name="TextBox 12"/>
          <p:cNvSpPr txBox="1"/>
          <p:nvPr/>
        </p:nvSpPr>
        <p:spPr>
          <a:xfrm>
            <a:off x="1005840" y="539496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content drafting, chunking, plain-language writing, activity design, role-plays, branching scenarios, bias check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Generate Learning Content, Activities and Scenarios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one lesson plan from Lab 5 — for example the complaint-handling lesson — as the input for this lab's content.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Generate Learning Content, Activities and Scenarios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Draft the learning content for that lesson. Paste the prompt below, with the lesson plan pasted in.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an instructional designer writing for new frontline retail staff who may be first-time workers. From this lesson plan: '[PASTE LESSON PLAN]', write the learning content: a clear explanation of the key idea, one or two relatable retail examples, and a simple step-by-step model learners can apply (for handling a complaint, use a short service-recovery method). Write in plain, warm, active language, and chunk it into short sections with headings.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Generate Learning Content, Activities and Scenarios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active learning activities.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For the same lesson, create three activities that get learners doing, not just reading: (1) a short discussion prompt, (2) a two-person role-play with a brief setup and roles, and (3) a realistic branching scenario where a customer makes a complaint and the learner chooses between three responses, with feedback for each choice. Keep them practical and set in a neighbourhood retail store.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Generate Learning Content, Activities and Scenarios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Chunk and simplify.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Rewrite this content into short, digestible chunks with clear headings, plain language at about a secondary-school reading level, active voice, and a warm, encouraging tone. Cut jargon or explain it in one line.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Generate Learning Content, Activities and Scenarios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realism and bias: read every example and the scenario, and confirm they are realistic for a Singapore neighbourhood store and free of stereotypes about customers or staff. Rewrite anything that feels unrealistic, unfair or that singles out any group.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Generate Learning Content, Activities and Scenarios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alignment: check that this content and its activities actually serve the lesson's objective — cut anything interesting-but-off-objective, and add anything the objective needs that is missing.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Generate Learning Content, Activities and Scenarios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the content and activities for the remaining lessons the same way, keeping the tone and structure consistent across the whole course, then save it all in your project folder. This developed content is what you assess in Lab 7 and produce in Lab 8.</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Generate Learning Content, Activities and Scenarios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developed learning content for the lessons — clear, chunked, plain-language explanations with realistic, bias-checked examples and a simple model — plus a discussion activity, a role-play and a branching scenario per key lesson, each aligned to its objective. Saved and ready to assess.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Quizzes, Assessments and Rubrics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300" b="0">
                <a:solidFill>
                  <a:srgbClr val="161B26"/>
                </a:solidFill>
                <a:latin typeface="Arial"/>
              </a:rPr>
              <a:t>A course is only as good as the evidence that learners can do what it promised. In this lab you use AI to build assessment that measures your objectives. You generate a short quiz (multiple-choice, true/false and short-answer items) with an answer guide and a rationale for each item, then a scenario-based performance task where a learner handles a mock complaint. Crucially, you check quality: every quiz item must map to an objective, have exactly one defensible correct answer with plausible distractors and no giveaway cues, and sit at the right cognitive level. You then have AI draft a criteria-based rubric for the performance task — with clear criteria and performance levels — and you calibrate it to Meridian's standard. The result is aligned, fair assessment ready to slot into the package. BUILDING BLOCK — what you create in this lab becomes part of your Meridian Service Excellence course kit, the connected course package you assemble across all 10 labs.</a:t>
            </a:r>
          </a:p>
        </p:txBody>
      </p:sp>
      <p:sp>
        <p:nvSpPr>
          <p:cNvPr id="10" name="Rectangle 9"/>
          <p:cNvSpPr/>
          <p:nvPr/>
        </p:nvSpPr>
        <p:spPr>
          <a:xfrm>
            <a:off x="777240" y="3977639"/>
            <a:ext cx="10698480" cy="1965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68680"/>
          </a:xfrm>
          <a:prstGeom prst="rect">
            <a:avLst/>
          </a:prstGeom>
          <a:noFill/>
        </p:spPr>
        <p:txBody>
          <a:bodyPr wrap="square" anchor="t">
            <a:spAutoFit/>
          </a:bodyPr>
          <a:lstStyle/>
          <a:p>
            <a:pPr algn="l">
              <a:spcAft>
                <a:spcPts val="400"/>
              </a:spcAft>
            </a:pPr>
            <a:r>
              <a:rPr sz="1600" b="1">
                <a:solidFill>
                  <a:srgbClr val="161B26"/>
                </a:solidFill>
                <a:latin typeface="Arial"/>
              </a:rPr>
              <a:t>A short quiz with an answer guide and rationales, a scenario-based performance task, and a criteria-based rubric for the Meridian course — every item mapped to an objective, checked for one correct answer, plausible distractors and the right level, and calibrated to standard.</a:t>
            </a:r>
          </a:p>
        </p:txBody>
      </p:sp>
      <p:sp>
        <p:nvSpPr>
          <p:cNvPr id="13" name="TextBox 12"/>
          <p:cNvSpPr txBox="1"/>
          <p:nvPr/>
        </p:nvSpPr>
        <p:spPr>
          <a:xfrm>
            <a:off x="1005840" y="539496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quiz-item writing, distractors and answer guides, scenario/performance tasks, rubric design, objective alignment, item-quality review</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Quizzes, Assessments and Rubrics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your final learning objectives from Lab 3 — every assessment item must measure one of them.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Quizzes, Assessments and Rubrics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a short quiz aligned to the objectives. Paste the prompt below, with your objectives pasted in.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an assessment writer. From these learning objectives: '[PASTE OBJECTIVES]', write a 6-question quiz for new retail staff: a mix of multiple-choice (four options), true/false and one short-answer item. For each item, note which objective it measures, give the correct answer, and add a one-line rationale. Make the wrong options plausible, not obvious.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Quizzes, Assessments and Rubrics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a scenario-based performance task.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short scenario-based performance task for the same course: a realistic customer-complaint situation an associate must handle, the instructions to the learner, and what a good response would include. Tie it explicitly to the complaint-handling and escalation objectives.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Quizzes, Assessments and Rubrics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Quality-check the quiz items. Paste the prompt below and fix whatever it flags.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Review this quiz for item quality: does each item map to an objective, does each multiple-choice item have exactly one defensible correct answer with plausible distractors and no giveaway cues (such as 'all of the above' or the longest option always being right), and is each at an appropriate difficulty? Flag and rewrite any weak item.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Quizzes, Assessments and Rubrics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a rubric for the performance task.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Create a criteria-based rubric to assess the complaint-handling performance task. Use 3 to 4 criteria (for example: stayed calm and empathetic, understood the customer's need, applied the service-recovery steps, knew when to escalate) and 3 performance levels (for example: developing, proficient, strong) with a short descriptor for each cell. Present it as a 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Quizzes, Assessments and Rubrics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Calibrate the rubric to standard: adjust the criteria and level descriptors so 'proficient' really reflects what Meridian expects of a new associate — not too lenient, not unrealistic for a first week — and make sure the criteria match the performance task and the objectives.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Quizzes, Assessments and Rubrics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quiz with its answer guide, the performance task, and the rubric in your project folder, noting the objective each piece measures. This aligned assessment slots into the package in Lab 10.</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Quizzes, Assessments and Rubrics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short quiz with an answer guide and rationales, a scenario-based performance task, and a calibrated criteria-based rubric — every item mapped to an objective, each multiple-choice item checked for one correct answer, plausible distractors and no giveaway cues, and the rubric matched to Meridian's standard.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Produce Scripts, Visuals and Job Aids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300" b="0">
                <a:solidFill>
                  <a:srgbClr val="161B26"/>
                </a:solidFill>
                <a:latin typeface="Arial"/>
              </a:rPr>
              <a:t>Now you produce the material learners see, hear and keep. In this lab you use AI three ways. First, you draft a short narration script and a storyboard for the e-learning module — for each screen, the on-screen text, the narration and the visual — written to be heard, not read. Second, you use an AI image tool to create on-brand visuals for the key screens and slides (a greeting, a complaint being resolved), keeping the style consistent and writing alt text for each so the material is accessible. Third, you create the take-away job aids learners keep after the course — a one-page complaint-handling checklist and a quick-reference card of the service steps. You check every visual is appropriate and licence-clear and every job aid is genuinely usable at the counter. BUILDING BLOCK — what you create in this lab becomes part of your Meridian Service Excellence course kit, the connected course package you assemble across all 10 labs.</a:t>
            </a:r>
          </a:p>
        </p:txBody>
      </p:sp>
      <p:sp>
        <p:nvSpPr>
          <p:cNvPr id="10" name="Rectangle 9"/>
          <p:cNvSpPr/>
          <p:nvPr/>
        </p:nvSpPr>
        <p:spPr>
          <a:xfrm>
            <a:off x="777240" y="3977639"/>
            <a:ext cx="10698480" cy="1965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68680"/>
          </a:xfrm>
          <a:prstGeom prst="rect">
            <a:avLst/>
          </a:prstGeom>
          <a:noFill/>
        </p:spPr>
        <p:txBody>
          <a:bodyPr wrap="square" anchor="t">
            <a:spAutoFit/>
          </a:bodyPr>
          <a:lstStyle/>
          <a:p>
            <a:pPr algn="l">
              <a:spcAft>
                <a:spcPts val="400"/>
              </a:spcAft>
            </a:pPr>
            <a:r>
              <a:rPr sz="1500" b="1">
                <a:solidFill>
                  <a:srgbClr val="161B26"/>
                </a:solidFill>
                <a:latin typeface="Arial"/>
              </a:rPr>
              <a:t>A narration script and storyboard for the e-learning module, a consistent set of on-brand visuals with alt text for the key screens, and take-away job aids (a complaint-handling checklist and a quick-reference card) — all produced and checked for consistency, accessibility and appropriateness.</a:t>
            </a:r>
          </a:p>
        </p:txBody>
      </p:sp>
      <p:sp>
        <p:nvSpPr>
          <p:cNvPr id="13" name="TextBox 12"/>
          <p:cNvSpPr txBox="1"/>
          <p:nvPr/>
        </p:nvSpPr>
        <p:spPr>
          <a:xfrm>
            <a:off x="1005840" y="539496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narration scripts and storyboards, AI image generation, image prompting, alt text and accessibility, job-aid and checklist design, licensing check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Produce Scripts, Visuals and Job Aids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Choose the lesson to turn into the short e-learning module — for example the complaint-handling lesson — and open its content from Lab 6.</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Produce Scripts, Visuals and Job Aids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Draft the narration script and storyboard. Paste the prompt below, with the lesson content pasted in.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an e-learning developer. From this lesson content: '[PASTE CONTENT]', write a storyboard for a short e-learning module. For each screen give: the on-screen text (brief), the narration (written to be heard, warm and clear, a few sentences), and a note on the visual. Keep the whole module to about 6 to 8 screens and roughly three to four minutes of narration.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Produce Scripts, Visuals and Job Aids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an on-brand visual for a key screen. Paste the image prompt below into your image tool.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clean, friendly flat illustration of a retail associate calmly helping a customer who looks concerned, in a bright neighbourhood lifestyle store, warm and approachable style, simple shapes, no text and no real brand logos, suitable for a training e-learning screen.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Produce Scripts, Visuals and Job Aids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the other visuals the same way, keeping the style consistent (same look, colours and character style) so the module feels like one course. For each image, write one line of alt text describing what it shows, so learners using a screen reader can follow along.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Produce Scripts, Visuals and Job Aids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appropriateness and licensing: no real company logos or identifiable real people, confirm your image tool's terms allow training use, and note where you will disclose that images are AI-generated. Replace anything you are unsure about.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Produce Scripts, Visuals and Job Aids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the take-away job aids.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Create two take-away job aids for new retail associates: (1) a one-page complaint-handling checklist using the service-recovery steps from the course, and (2) a wallet-sized quick-reference card of the greeting-to-resolution steps. Keep them short, plain, action-first, and usable at the counter in the moment.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Produce Scripts, Visuals and Job Aids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job aids for real-world usability — could a nervous new associate actually glance at this mid-shift and know what to do? Tighten anything wordy, then save the script, storyboard, visuals with alt text, and job aids in your project folder.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Produce Scripts, Visuals and Job Aids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storyboard and narration script for a short e-learning module, a consistent set of on-brand, appropriate, licence-checked visuals each with alt text, and two usable take-away job aids (a complaint-handling checklist and a quick-reference card) — all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Align to Outcomes and Quality-Check the AI Output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300" b="0">
                <a:solidFill>
                  <a:srgbClr val="161B26"/>
                </a:solidFill>
                <a:latin typeface="Arial"/>
              </a:rPr>
              <a:t>Before a course is delivered, it must be checked. In this lab you run two disciplined passes over everything you have built. First, alignment: you build an alignment matrix that maps every objective to the content, activity and assessment that serve it, using AI to surface gaps (an objective with no assessment) and orphans (content that serves no objective), and you fix them. Second, quality: you have AI review the material — but critically, not trustingly — for factual accuracy (which you confirm with a subject expert or the brief, never the AI alone), for bias and stereotypes, for reading level and plain language, and for accessibility. You compile a short quality-check report of what you found and fixed. This is where you take ownership of the instructional quality of the whole package. BUILDING BLOCK — what you create in this lab becomes part of your Meridian Service Excellence course kit, the connected course package you assemble across all 10 labs.</a:t>
            </a:r>
          </a:p>
        </p:txBody>
      </p:sp>
      <p:sp>
        <p:nvSpPr>
          <p:cNvPr id="10" name="Rectangle 9"/>
          <p:cNvSpPr/>
          <p:nvPr/>
        </p:nvSpPr>
        <p:spPr>
          <a:xfrm>
            <a:off x="777240" y="3977639"/>
            <a:ext cx="10698480" cy="1965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68680"/>
          </a:xfrm>
          <a:prstGeom prst="rect">
            <a:avLst/>
          </a:prstGeom>
          <a:noFill/>
        </p:spPr>
        <p:txBody>
          <a:bodyPr wrap="square" anchor="t">
            <a:spAutoFit/>
          </a:bodyPr>
          <a:lstStyle/>
          <a:p>
            <a:pPr algn="l">
              <a:spcAft>
                <a:spcPts val="400"/>
              </a:spcAft>
            </a:pPr>
            <a:r>
              <a:rPr sz="1500" b="1">
                <a:solidFill>
                  <a:srgbClr val="161B26"/>
                </a:solidFill>
                <a:latin typeface="Arial"/>
              </a:rPr>
              <a:t>An alignment matrix mapping every objective to its content, activity and assessment (with gaps and orphans fixed), plus a completed quality-check pass and short report covering accuracy, bias, reading level and accessibility — so the whole package is aligned and ready to finalise.</a:t>
            </a:r>
          </a:p>
        </p:txBody>
      </p:sp>
      <p:sp>
        <p:nvSpPr>
          <p:cNvPr id="13" name="TextBox 12"/>
          <p:cNvSpPr txBox="1"/>
          <p:nvPr/>
        </p:nvSpPr>
        <p:spPr>
          <a:xfrm>
            <a:off x="1005840" y="539496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alignment matrices, gap and orphan analysis, fact-checking, bias and stereotype review, readability checks, accessibility review</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Align to Outcomes and Quality-Check the AI Output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Gather every artifact you have built: objectives (Lab 3), curriculum map and lesson plans (Labs 4-5), content and activities (Lab 6), quiz, task and rubric (Lab 7), and script, visuals and job aids (Lab 8).</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Align to Outcomes and Quality-Check the AI Output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the alignment matrix. Paste the prompt below, with your objectives and a list of your artifacts pasted in.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 quality reviewer. Here are my learning objectives: '[PASTE OBJECTIVES]', and my course artifacts: '[LIST CONTENT, ACTIVITIES, QUIZ ITEMS, TASK, JOB AIDS]'. Build an alignment matrix mapping each objective to the content, activity and assessment that serve it. Flag any objective with no assessment (a gap) and any artifact that serves no objective (an orphan).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Align to Outcomes and Quality-Check the AI Output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Fix gaps and orphans: for every objective missing an assessment, add or reassign an item; for every orphan, either tie it to an objective or cut it. Re-run the check until every objective is covered and nothing is orphaned.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Align to Outcomes and Quality-Check the AI Output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accuracy and bias quality check.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Review all this course material for quality: flag any factual claim I must verify with a subject expert, any example or scenario that could carry a stereotype or unfair assumption, and anything that reads as too strong or absolute to defend. List each issue with the fix you recommend. Do not assume your own facts are correct — mark them for me to confirm.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Align to Outcomes and Quality-Check the AI Output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facts yourself: take every claim the AI flagged (and any Meridian policy or service standard) and confirm it against the supplied brief or a subject expert — never on the AI's word alone — and correct anything wrong. Resolve every [VERIFY] placeholder left from earlier labs.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Align to Outcomes and Quality-Check the AI Output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readability and accessibility. Paste the prompt below, then apply the fixes.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Check this learner-facing content for reading level and accessibility: is it plain language at about a secondary-school level, active voice, jargon explained; do all images have alt text; and is anything conveyed by colour or image alone that a learner might miss? List what to improve.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Align to Outcomes and Quality-Check the AI Output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Compile a short quality-check report in your project folder: the alignment matrix, the issues found (accuracy, bias, readability, accessibility) and how each was fixed. The package is now aligned and quality-checked, ready to assemble in Lab 10.</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Align to Outcomes and Quality-Check the AI Output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an alignment matrix with every objective mapped to its content, activity and assessment and all gaps and orphans fixed, plus a completed quality-check covering accuracy (facts confirmed against the brief or an expert, no [VERIFY] left), bias, reading level and accessibility — captured in a short report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Assemble, Review and Finalise the Course Package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508760"/>
          </a:xfrm>
          <a:prstGeom prst="rect">
            <a:avLst/>
          </a:prstGeom>
          <a:noFill/>
        </p:spPr>
        <p:txBody>
          <a:bodyPr wrap="square" anchor="t">
            <a:spAutoFit/>
          </a:bodyPr>
          <a:lstStyle/>
          <a:p>
            <a:pPr algn="l">
              <a:spcAft>
                <a:spcPts val="400"/>
              </a:spcAft>
            </a:pPr>
            <a:r>
              <a:rPr sz="1300" b="0">
                <a:solidFill>
                  <a:srgbClr val="161B26"/>
                </a:solidFill>
                <a:latin typeface="Arial"/>
              </a:rPr>
              <a:t>The last mile is assembly and handover. In this lab you bring every reviewed artifact together into one coherent course package: a facilitator guide (the lesson plans, timings, activity instructions, answer guide and rubric) and a learner set (the content, the e-learning module storyboard, the quiz, and the take-away job aids). You use AI to draft a course overview and a facilitator guide that stitches the lesson plans into a runnable flow, then you run a final consistency pass — one voice, consistent terms, correct objective numbering and no leftover placeholders. You do a final human review against the objectives one last time, confirm every fact is verified, and finalise and export the package. That completes the Meridian Service Excellence course kit — from a training request to a deliverable course — end to end. BUILDING BLOCK — what you create in this lab becomes part of your Meridian Service Excellence course kit, the connected course package you assemble across all 10 labs.</a:t>
            </a:r>
          </a:p>
        </p:txBody>
      </p:sp>
      <p:sp>
        <p:nvSpPr>
          <p:cNvPr id="10" name="Rectangle 9"/>
          <p:cNvSpPr/>
          <p:nvPr/>
        </p:nvSpPr>
        <p:spPr>
          <a:xfrm>
            <a:off x="777240" y="3977639"/>
            <a:ext cx="10698480" cy="1965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62272"/>
            <a:ext cx="10058400" cy="868680"/>
          </a:xfrm>
          <a:prstGeom prst="rect">
            <a:avLst/>
          </a:prstGeom>
          <a:noFill/>
        </p:spPr>
        <p:txBody>
          <a:bodyPr wrap="square" anchor="t">
            <a:spAutoFit/>
          </a:bodyPr>
          <a:lstStyle/>
          <a:p>
            <a:pPr algn="l">
              <a:spcAft>
                <a:spcPts val="400"/>
              </a:spcAft>
            </a:pPr>
            <a:r>
              <a:rPr sz="1500" b="1">
                <a:solidFill>
                  <a:srgbClr val="161B26"/>
                </a:solidFill>
                <a:latin typeface="Arial"/>
              </a:rPr>
              <a:t>A finished, assembled course package — a facilitator guide (course overview, lesson plans, timings, activity instructions, answer guide and rubric) and a learner set (content, e-learning storyboard, quiz and job aids) — run through a final consistency and human review, with every fact verified and no placeholders left, exported and ready to deliver.</a:t>
            </a:r>
          </a:p>
        </p:txBody>
      </p:sp>
      <p:sp>
        <p:nvSpPr>
          <p:cNvPr id="13" name="TextBox 12"/>
          <p:cNvSpPr txBox="1"/>
          <p:nvPr/>
        </p:nvSpPr>
        <p:spPr>
          <a:xfrm>
            <a:off x="1005840" y="539496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package assembly, facilitator guide, course overview, consistency pass, final human review, exporting the package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Assemble, Review and Finalise the Course Package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Lay out every reviewed artifact from Labs 3-9 in the order it belongs in the package: overview, objectives, lesson plans, content, activities, e-learning storyboard, quiz and answer guide, performance task and rubric, and job aids.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Assemble, Review and Finalise the Course Package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Draft the course overview and facilitator guide. Paste the prompt below, with your lesson plans and objectives pasted in.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an instructional designer assembling a course package. Using these objectives and lesson plans: '[PASTE]', write (1) a one-page course overview — purpose, audience, objectives, duration and structure — and (2) a facilitator guide that stitches the lesson plans into a runnable three-hour flow, with timings, what the facilitator does at each step, and where the activities, quiz and job aids are used.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Assemble, Review and Finalise the Course Package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a final consistency pass.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 a consistency pass across this whole course package: make the voice and tone consistent, standardise key terms (for example the name of the service-recovery method), check the objective numbering matches everywhere, and flag any leftover placeholder, [VERIFY] tag or 'TODO'. Return a list of what to fix.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Assemble, Review and Finalise the Course Package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Fix everything the consistency pass flagged, and resolve any last placeholder — nothing marked [VERIFY] or 'TODO' may remain in a package about to be delivered.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Assemble, Review and Finalise the Course Package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Do a final human review against the objectives: read the package once as a whole and confirm a new associate who completes it would genuinely be able to do each objective, the assessment fairly measures each, and the facilitator could run it in three hours. Adjust anything that fails this test.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Assemble, Review and Finalise the Course Package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Split the package into the two audiences: a facilitator guide (with the answer guide and rubric) and a learner set (without the answer guide), so each reader gets what they need.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Assemble, Review and Finalise the Course Package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Export and save the finished package (as documents or a PDF) in your project folder, with a short contents page. This complete, aligned, quality-checked Meridian Service Excellence course kit is the deliverable the whole course set out to build — and remember, you, not the AI, own its instructional quality.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Assemble, Review and Finalise the Course Package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assembled every reviewed artifact into one coherent package — a facilitator guide (overview, lesson plans, timings, activity instructions, answer guide and rubric) and a learner set (content, e-learning storyboard, quiz and job aids) — run a final consistency and human review against the objectives, verified every fact with no placeholders left, and exported the finished Meridian Service Excellence course kit ready to deliver.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Creating Learning Content and Assessments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Turn the lesson plans into concrete learning content, active learning activities and a realistic scenario — chunked, written in plain language, and pitched at the learners' level.</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Create assessment that measures the objectives — quiz items with answer guides, a scenario-based performance task, and a rubric — all aligned to the learning objectives and checked for quality and fairness.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Produce the learner-facing media — a narration script and storyboard for the e-learning module, on-brand visuals, and take-away job aids — that make the course usable and support performance on the job.</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Run a full alignment and quality pass — map every artifact to an objective, find gaps and orphans, and check all AI-generated material for accuracy, bias, reading level and instructional soundness before it reaches learners.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Assemble every artifact into one consistent facilitator and learner package, run a final review, and finalise the Meridian Service Excellence course kit ready to deliver — end to end.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ID AI toolkit</a:t>
            </a:r>
          </a:p>
          <a:p>
            <a:pPr algn="l">
              <a:spcAft>
                <a:spcPts val="300"/>
              </a:spcAft>
            </a:pPr>
            <a:r>
              <a:rPr sz="1300" b="0">
                <a:solidFill>
                  <a:srgbClr val="5B6372"/>
                </a:solidFill>
                <a:latin typeface="Arial"/>
              </a:rPr>
              <a:t>Explain how generative AI supports instructional design, and set up an AI toolkit — general chat assistants (ChatGPT, Claude, Gemini) and an AI image tool — for learning-design 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Prompting for ID</a:t>
            </a:r>
          </a:p>
          <a:p>
            <a:pPr algn="l">
              <a:spcAft>
                <a:spcPts val="300"/>
              </a:spcAft>
            </a:pPr>
            <a:r>
              <a:rPr sz="1300" b="0">
                <a:solidFill>
                  <a:srgbClr val="5B6372"/>
                </a:solidFill>
                <a:latin typeface="Arial"/>
              </a:rPr>
              <a:t>Write effective, structured prompts for instructional-design tasks and build a reusable prompt library.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Needs &amp; objectives</a:t>
            </a:r>
          </a:p>
          <a:p>
            <a:pPr algn="l">
              <a:spcAft>
                <a:spcPts val="300"/>
              </a:spcAft>
            </a:pPr>
            <a:r>
              <a:rPr sz="1300" b="0">
                <a:solidFill>
                  <a:srgbClr val="5B6372"/>
                </a:solidFill>
                <a:latin typeface="Arial"/>
              </a:rPr>
              <a:t>Use generative AI to analyse learning needs, profile the target learners, and write clear, measurable learning objectives.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Course structure</a:t>
            </a:r>
          </a:p>
          <a:p>
            <a:pPr algn="l">
              <a:spcAft>
                <a:spcPts val="300"/>
              </a:spcAft>
            </a:pPr>
            <a:r>
              <a:rPr sz="1300" b="0">
                <a:solidFill>
                  <a:srgbClr val="5B6372"/>
                </a:solidFill>
                <a:latin typeface="Arial"/>
              </a:rPr>
              <a:t>Use AI to structure a course — a curriculum map and module breakdown aligned to the objectives.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Lesson plans</a:t>
            </a:r>
          </a:p>
          <a:p>
            <a:pPr algn="l">
              <a:spcAft>
                <a:spcPts val="300"/>
              </a:spcAft>
            </a:pPr>
            <a:r>
              <a:rPr sz="1300" b="0">
                <a:solidFill>
                  <a:srgbClr val="5B6372"/>
                </a:solidFill>
                <a:latin typeface="Arial"/>
              </a:rPr>
              <a:t>Use AI to build lesson plans and sequence the learning into a coherent, timed flow.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Content &amp; activities</a:t>
            </a:r>
          </a:p>
          <a:p>
            <a:pPr algn="l">
              <a:spcAft>
                <a:spcPts val="300"/>
              </a:spcAft>
            </a:pPr>
            <a:r>
              <a:rPr sz="1300" b="0">
                <a:solidFill>
                  <a:srgbClr val="5B6372"/>
                </a:solidFill>
                <a:latin typeface="Arial"/>
              </a:rPr>
              <a:t>Generate engaging learning content, activities and scenarios with AI.</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Quizzes &amp; rubrics</a:t>
            </a:r>
          </a:p>
          <a:p>
            <a:pPr algn="l">
              <a:spcAft>
                <a:spcPts val="300"/>
              </a:spcAft>
            </a:pPr>
            <a:r>
              <a:rPr sz="1300" b="0">
                <a:solidFill>
                  <a:srgbClr val="5B6372"/>
                </a:solidFill>
                <a:latin typeface="Arial"/>
              </a:rPr>
              <a:t>Create quizzes, assessments and rubrics aligned to the learning objectives with AI.</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Scripts, visuals, job aids</a:t>
            </a:r>
          </a:p>
          <a:p>
            <a:pPr algn="l">
              <a:spcAft>
                <a:spcPts val="300"/>
              </a:spcAft>
            </a:pPr>
            <a:r>
              <a:rPr sz="1300" b="0">
                <a:solidFill>
                  <a:srgbClr val="5B6372"/>
                </a:solidFill>
                <a:latin typeface="Arial"/>
              </a:rPr>
              <a:t>Produce learner-facing scripts, visuals and job aids with AI.</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Align &amp; quality-check</a:t>
            </a:r>
          </a:p>
          <a:p>
            <a:pPr algn="l">
              <a:spcAft>
                <a:spcPts val="300"/>
              </a:spcAft>
            </a:pPr>
            <a:r>
              <a:rPr sz="1300" b="0">
                <a:solidFill>
                  <a:srgbClr val="5B6372"/>
                </a:solidFill>
                <a:latin typeface="Arial"/>
              </a:rPr>
              <a:t>Align every artifact to the learning outcomes and quality-check AI output for accuracy, bias and instructional soundness.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Assemble &amp; deliver</a:t>
            </a:r>
          </a:p>
          <a:p>
            <a:pPr algn="l">
              <a:spcAft>
                <a:spcPts val="300"/>
              </a:spcAft>
            </a:pPr>
            <a:r>
              <a:rPr sz="1300" b="0">
                <a:solidFill>
                  <a:srgbClr val="5B6372"/>
                </a:solidFill>
                <a:latin typeface="Arial"/>
              </a:rPr>
              <a:t>Assemble, review and finalise the complete course package — facilitator and learner materials — ready to deliver.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Instructional Design (C1176)  ·  C1176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